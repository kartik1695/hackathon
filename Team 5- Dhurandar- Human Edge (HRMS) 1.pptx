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6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8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9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10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1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4"/>
    <p:sldMasterId id="2147483660" r:id="rId5"/>
    <p:sldMasterId id="2147483779" r:id="rId6"/>
    <p:sldMasterId id="2147483796" r:id="rId7"/>
    <p:sldMasterId id="2147483842" r:id="rId8"/>
    <p:sldMasterId id="2147483852" r:id="rId9"/>
    <p:sldMasterId id="2147483863" r:id="rId10"/>
    <p:sldMasterId id="2147483913" r:id="rId11"/>
    <p:sldMasterId id="2147483924" r:id="rId12"/>
    <p:sldMasterId id="2147483933" r:id="rId13"/>
    <p:sldMasterId id="2147483943" r:id="rId14"/>
    <p:sldMasterId id="2147483969" r:id="rId15"/>
    <p:sldMasterId id="2147483977" r:id="rId16"/>
  </p:sldMasterIdLst>
  <p:notesMasterIdLst>
    <p:notesMasterId r:id="rId26"/>
  </p:notesMasterIdLst>
  <p:sldIdLst>
    <p:sldId id="2147480880" r:id="rId17"/>
    <p:sldId id="2147481460" r:id="rId18"/>
    <p:sldId id="2147481461" r:id="rId19"/>
    <p:sldId id="2147481452" r:id="rId20"/>
    <p:sldId id="2147481453" r:id="rId21"/>
    <p:sldId id="2147481454" r:id="rId22"/>
    <p:sldId id="2147481455" r:id="rId23"/>
    <p:sldId id="2147481462" r:id="rId24"/>
    <p:sldId id="214748145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968958-1DE3-3101-A731-AD0870197D6C}" name="Niharika Chawla" initials="NC" userId="S::niharika.chawla@3scanalytics.eu::2fe60157-439b-43cc-94b8-8e0acf0a01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025"/>
    <a:srgbClr val="F27E16"/>
    <a:srgbClr val="E45224"/>
    <a:srgbClr val="F7CCBF"/>
    <a:srgbClr val="BFBFBF"/>
    <a:srgbClr val="0E6ABF"/>
    <a:srgbClr val="ED7D31"/>
    <a:srgbClr val="767171"/>
    <a:srgbClr val="E75026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5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7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3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eue Montreal" pitchFamily="2" charset="77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eue Montreal" pitchFamily="2" charset="77"/>
              </a:defRPr>
            </a:lvl1pPr>
          </a:lstStyle>
          <a:p>
            <a:fld id="{06424FA8-D930-4723-89A1-48356D8123F0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eue Montreal" pitchFamily="2" charset="77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eue Montreal" pitchFamily="2" charset="77"/>
              </a:defRPr>
            </a:lvl1pPr>
          </a:lstStyle>
          <a:p>
            <a:fld id="{9E855C45-A39A-47BC-BF2A-782C9005C9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5E6F39A-087C-489D-E5FC-E11B8B325F7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28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33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78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19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96619CC-6B91-2365-BBE4-180F4C8079B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88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751895EF-59BF-71C5-8778-E9BC9444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22ACC7E-C412-E1D5-3B04-92634B82CBE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50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3227670-E458-7C5F-9934-DD4618919E7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81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85E394C-D2B6-50D6-6ABB-A324E9B33A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16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435A577-FE93-363D-8B13-6C75420640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95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0F10D6E-9259-EED6-2032-1869908EB55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50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B5E7763E-5105-6D10-3311-199875014FC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177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5D4E9C7-2086-47F2-B634-F070991A6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0BA2B10-EE23-E836-A35F-2393440CC87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54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F2453C5-FDED-92FC-C79E-CF03FA6E9D2B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546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7674CE8-958C-7911-AB03-7347FBE4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EA9B086-8859-63C0-C6A8-98A2DE60F16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765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06E9D67-6587-AC60-2FB6-29F0E8FFAB3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663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8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002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702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0E384D-78A7-E548-B500-5213C600A7C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233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226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6442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071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13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72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7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1196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809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46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950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008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851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672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2211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841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221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974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ABB8FB-B0A2-28C1-A4C8-836D2BC35D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880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2892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9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455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6990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9416"/>
            <a:ext cx="11086252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82E60-F6FC-C5EC-1BCA-E04D1B5A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80" y="792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200">
                <a:latin typeface="Neue Montreal" pitchFamily="2" charset="77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Neue Montreal" pitchFamily="2" charset="77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latin typeface="Neue Montreal" pitchFamily="2" charset="77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>
                <a:latin typeface="Neue Montreal" pitchFamily="2" charset="77"/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latin typeface="Neue Montreal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69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950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081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75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6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1" y="6492876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1901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1985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9473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2747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3E0A9-E1AA-4F62-9C55-6536FA24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AE7A8-0F59-47BC-8238-AB8F69D5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45E535D8-68D2-3B45-84E2-82A498882B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906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0310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7BA280C-6536-E933-4362-024A6089E9C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6834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B65D43-1614-F6F0-27C5-BB4A6DE50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3421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4402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658CA22B-698A-7D34-AB73-E41DD570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50FA4142-40A3-F552-625E-3EAA3A8E7F4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6999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0394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0E384D-78A7-E548-B500-5213C600A7C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0770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35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4357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9008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814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7018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085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193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2959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3342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3554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416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5638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1889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2573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5412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987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9533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0513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9416"/>
            <a:ext cx="11086252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82E60-F6FC-C5EC-1BCA-E04D1B5A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80" y="792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200">
                <a:latin typeface="Neue Montreal" pitchFamily="2" charset="77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Neue Montreal" pitchFamily="2" charset="77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latin typeface="Neue Montreal" pitchFamily="2" charset="77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>
                <a:latin typeface="Neue Montreal" pitchFamily="2" charset="77"/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latin typeface="Neue Montreal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7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50023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754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257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6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1" y="6492876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8551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684FB-5CCE-41B1-B0E8-5813103C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5B052-FD5B-4B74-AD5C-8B386655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DE503-0C0D-42D9-BD25-831BCB83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0DBA0C-6841-4D63-B9DE-CC10FC02328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443DB-094B-495F-A2C4-1355982A4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2561"/>
            <a:ext cx="10515600" cy="711200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9850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2896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208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4996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7BA280C-6536-E933-4362-024A6089E9C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7641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Blan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12192385" cy="68583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013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93349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58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8745256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954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0970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A7415B6F-3938-F386-BEB0-E92DF8F48E86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03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57520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Blan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12192385" cy="68583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181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tx1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 b="0" i="0">
                <a:latin typeface="Neue Montreal" pitchFamily="2" charset="77"/>
              </a:defRPr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5114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E1A8DD9F-1212-F679-A720-9FDF9905C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78" y="673813"/>
            <a:ext cx="11604703" cy="28193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2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  <a:lvl2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2pPr>
            <a:lvl3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3pPr>
            <a:lvl4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4pPr>
            <a:lvl5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IN" sz="1400" kern="1200" dirty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51287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E1A8DD9F-1212-F679-A720-9FDF9905C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78" y="673813"/>
            <a:ext cx="11604703" cy="28193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2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  <a:lvl2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2pPr>
            <a:lvl3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3pPr>
            <a:lvl4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4pPr>
            <a:lvl5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IN" sz="1400" kern="1200" dirty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232443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72648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8885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68001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10850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42358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000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60690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AE49D63-4D2C-63ED-2E4C-1C3C9465812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2908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88171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5438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42298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  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  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5900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80857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50233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8665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1702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18878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5795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6363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8722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99900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154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053327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ABB8FB-B0A2-28C1-A4C8-836D2BC35D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00054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93491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8071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0" i="0">
                <a:solidFill>
                  <a:srgbClr val="251B66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27273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41799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3648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8000" y="6629400"/>
            <a:ext cx="7823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SS Supply Chain Solutions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629400"/>
            <a:ext cx="10160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p. </a:t>
            </a:r>
            <a:fld id="{5BE0F49F-C558-4D07-B342-5FF48B46FD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31"/>
          <p:cNvSpPr>
            <a:spLocks noChangeArrowheads="1"/>
          </p:cNvSpPr>
          <p:nvPr userDrawn="1"/>
        </p:nvSpPr>
        <p:spPr bwMode="auto">
          <a:xfrm flipV="1">
            <a:off x="0" y="6477001"/>
            <a:ext cx="12192000" cy="365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600" b="1">
              <a:solidFill>
                <a:srgbClr val="56B7E9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23820"/>
      </p:ext>
    </p:extLst>
  </p:cSld>
  <p:clrMapOvr>
    <a:masterClrMapping/>
  </p:clrMapOvr>
  <p:transition spd="med"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10377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65123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tx1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 b="0" i="0">
                <a:latin typeface="Neue Montreal" pitchFamily="2" charset="77"/>
              </a:defRPr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75655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80" y="58455"/>
            <a:ext cx="10515600" cy="562168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71857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5484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12112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7920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36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theme" Target="../theme/theme7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81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9" Type="http://schemas.openxmlformats.org/officeDocument/2006/relationships/image" Target="../media/image3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97.xml"/><Relationship Id="rId10" Type="http://schemas.openxmlformats.org/officeDocument/2006/relationships/image" Target="../media/image7.jpeg"/><Relationship Id="rId4" Type="http://schemas.openxmlformats.org/officeDocument/2006/relationships/slideLayout" Target="../slideLayouts/slideLayout96.xml"/><Relationship Id="rId9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5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24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23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Relationship Id="rId22" Type="http://schemas.openxmlformats.org/officeDocument/2006/relationships/slideLayout" Target="../slideLayouts/slideLayout122.xml"/><Relationship Id="rId27" Type="http://schemas.openxmlformats.org/officeDocument/2006/relationships/image" Target="../media/image3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9.xml"/><Relationship Id="rId9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image" Target="../media/image3.png"/><Relationship Id="rId5" Type="http://schemas.openxmlformats.org/officeDocument/2006/relationships/theme" Target="../theme/theme13.xml"/><Relationship Id="rId4" Type="http://schemas.openxmlformats.org/officeDocument/2006/relationships/slideLayout" Target="../slideLayouts/slideLayout1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D13F7FBF-DE7D-69D8-DC5A-4EA3FEDB46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93000"/>
          </a:blip>
          <a:srcRect l="13993" r="21867" b="3016"/>
          <a:stretch/>
        </p:blipFill>
        <p:spPr>
          <a:xfrm>
            <a:off x="0" y="1"/>
            <a:ext cx="7744461" cy="6858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D974271-6664-F4D9-96F9-3EF3C8F4407A}"/>
              </a:ext>
            </a:extLst>
          </p:cNvPr>
          <p:cNvSpPr txBox="1"/>
          <p:nvPr userDrawn="1"/>
        </p:nvSpPr>
        <p:spPr>
          <a:xfrm>
            <a:off x="6549656" y="4742832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b="0" i="0" u="none">
                <a:solidFill>
                  <a:srgbClr val="000000"/>
                </a:solidFill>
                <a:latin typeface="Neue Montreal" pitchFamily="2" charset="77"/>
              </a:rPr>
              <a:t>Creating</a:t>
            </a:r>
            <a:r>
              <a:rPr lang="en-US" sz="3200" b="0" i="0" u="none">
                <a:solidFill>
                  <a:srgbClr val="E75026"/>
                </a:solidFill>
                <a:latin typeface="Neue Montreal" pitchFamily="2" charset="77"/>
              </a:rPr>
              <a:t> Sustainable </a:t>
            </a:r>
            <a:r>
              <a:rPr lang="en-US" sz="3200" b="0" i="0" u="none">
                <a:solidFill>
                  <a:srgbClr val="000000"/>
                </a:solidFill>
                <a:latin typeface="Neue Montreal" pitchFamily="2" charset="77"/>
              </a:rPr>
              <a:t>Value 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D615715-DDBE-209E-77B9-C68BA9ADF1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7521" t="14103" r="51764" b="8357"/>
          <a:stretch>
            <a:fillRect/>
          </a:stretch>
        </p:blipFill>
        <p:spPr>
          <a:xfrm>
            <a:off x="8635157" y="3816042"/>
            <a:ext cx="1243803" cy="1003213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29092B63-5691-33E4-05BD-CDC7B7A51D8F}"/>
              </a:ext>
            </a:extLst>
          </p:cNvPr>
          <p:cNvSpPr txBox="1"/>
          <p:nvPr userDrawn="1"/>
        </p:nvSpPr>
        <p:spPr>
          <a:xfrm>
            <a:off x="9721323" y="3226979"/>
            <a:ext cx="2153706" cy="15568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7200" b="0" i="0" u="none">
                <a:solidFill>
                  <a:srgbClr val="000000"/>
                </a:solidFill>
                <a:latin typeface="Neue Montreal" pitchFamily="2" charset="77"/>
              </a:rPr>
              <a:t>3SC</a:t>
            </a:r>
          </a:p>
        </p:txBody>
      </p:sp>
    </p:spTree>
    <p:extLst>
      <p:ext uri="{BB962C8B-B14F-4D97-AF65-F5344CB8AC3E}">
        <p14:creationId xmlns:p14="http://schemas.microsoft.com/office/powerpoint/2010/main" val="212702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5301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851" r:id="rId2"/>
    <p:sldLayoutId id="214748398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726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3" r:id="rId3"/>
    <p:sldLayoutId id="2147483784" r:id="rId4"/>
    <p:sldLayoutId id="2147483785" r:id="rId5"/>
    <p:sldLayoutId id="2147483787" r:id="rId6"/>
    <p:sldLayoutId id="2147483788" r:id="rId7"/>
    <p:sldLayoutId id="2147483789" r:id="rId8"/>
    <p:sldLayoutId id="2147483790" r:id="rId9"/>
    <p:sldLayoutId id="2147483792" r:id="rId10"/>
    <p:sldLayoutId id="2147483794" r:id="rId11"/>
    <p:sldLayoutId id="214748379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546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  <p:sldLayoutId id="2147483819" r:id="rId22"/>
    <p:sldLayoutId id="2147483821" r:id="rId23"/>
    <p:sldLayoutId id="2147483822" r:id="rId24"/>
    <p:sldLayoutId id="2147483823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5047" y="152533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2EAB4EA7-1C82-79F3-E937-DEF6C5D2BB2D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93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50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6" name="TextBox 82">
            <a:extLst>
              <a:ext uri="{FF2B5EF4-FFF2-40B4-BE49-F238E27FC236}">
                <a16:creationId xmlns:a16="http://schemas.microsoft.com/office/drawing/2014/main" id="{677774DC-C225-FC08-1A4B-784E26D12AF5}"/>
              </a:ext>
            </a:extLst>
          </p:cNvPr>
          <p:cNvSpPr txBox="1"/>
          <p:nvPr userDrawn="1"/>
        </p:nvSpPr>
        <p:spPr>
          <a:xfrm>
            <a:off x="9718158" y="6663395"/>
            <a:ext cx="2314051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8382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677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5047" y="152533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2EAB4EA7-1C82-79F3-E937-DEF6C5D2BB2D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33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9" r:id="rId5"/>
    <p:sldLayoutId id="2147483920" r:id="rId6"/>
    <p:sldLayoutId id="2147483921" r:id="rId7"/>
    <p:sldLayoutId id="2147483922" r:id="rId8"/>
    <p:sldLayoutId id="214748392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2025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470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7D2F068E-94AD-801D-9A5B-AFAF20C660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5471" b="-52306"/>
            </a:stretch>
          </a:blipFill>
        </p:spPr>
        <p:txBody>
          <a:bodyPr/>
          <a:lstStyle/>
          <a:p>
            <a:pPr defTabSz="609630"/>
            <a:endParaRPr lang="en-IN" sz="1200">
              <a:solidFill>
                <a:prstClr val="black"/>
              </a:solidFill>
              <a:latin typeface="Open Sauce Bold" panose="020B060402020202020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A149C8-36C0-901E-7E34-3860380E0605}"/>
              </a:ext>
            </a:extLst>
          </p:cNvPr>
          <p:cNvCxnSpPr>
            <a:cxnSpLocks/>
          </p:cNvCxnSpPr>
          <p:nvPr userDrawn="1"/>
        </p:nvCxnSpPr>
        <p:spPr bwMode="gray">
          <a:xfrm rot="5400000">
            <a:off x="11534752" y="6598979"/>
            <a:ext cx="285752" cy="0"/>
          </a:xfrm>
          <a:prstGeom prst="line">
            <a:avLst/>
          </a:prstGeom>
          <a:ln>
            <a:solidFill>
              <a:srgbClr val="E452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82">
            <a:extLst>
              <a:ext uri="{FF2B5EF4-FFF2-40B4-BE49-F238E27FC236}">
                <a16:creationId xmlns:a16="http://schemas.microsoft.com/office/drawing/2014/main" id="{CEA302B8-64C5-D18C-A7C1-2DF2008A6F3E}"/>
              </a:ext>
            </a:extLst>
          </p:cNvPr>
          <p:cNvSpPr txBox="1"/>
          <p:nvPr userDrawn="1"/>
        </p:nvSpPr>
        <p:spPr>
          <a:xfrm>
            <a:off x="9484718" y="6546946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chemeClr val="tx1"/>
                </a:solidFill>
                <a:latin typeface="Neue Montreal"/>
              </a:rPr>
              <a:t>2026 | © 3SC Confidential. All rights reserved.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FE15FB-9A2E-7B81-A03A-180E4B1D1A95}"/>
              </a:ext>
            </a:extLst>
          </p:cNvPr>
          <p:cNvSpPr/>
          <p:nvPr userDrawn="1"/>
        </p:nvSpPr>
        <p:spPr>
          <a:xfrm flipH="1" flipV="1">
            <a:off x="11838281" y="713347"/>
            <a:ext cx="71221" cy="71221"/>
          </a:xfrm>
          <a:prstGeom prst="ellipse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0FA048-4DA4-56BD-9831-8F0A022A26B4}"/>
              </a:ext>
            </a:extLst>
          </p:cNvPr>
          <p:cNvSpPr/>
          <p:nvPr userDrawn="1"/>
        </p:nvSpPr>
        <p:spPr>
          <a:xfrm flipH="1" flipV="1">
            <a:off x="11742715" y="719528"/>
            <a:ext cx="58860" cy="588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DEA247-600A-4703-A41C-C01FCED94FF4}"/>
              </a:ext>
            </a:extLst>
          </p:cNvPr>
          <p:cNvSpPr/>
          <p:nvPr userDrawn="1"/>
        </p:nvSpPr>
        <p:spPr>
          <a:xfrm flipH="1" flipV="1">
            <a:off x="11650296" y="728856"/>
            <a:ext cx="40203" cy="4020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B29FD5-47F6-EF90-CA5F-562CBC48F392}"/>
              </a:ext>
            </a:extLst>
          </p:cNvPr>
          <p:cNvSpPr/>
          <p:nvPr userDrawn="1"/>
        </p:nvSpPr>
        <p:spPr>
          <a:xfrm flipH="1" flipV="1">
            <a:off x="11557304" y="737611"/>
            <a:ext cx="22694" cy="2269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3B6467-3F2C-17EF-6F8D-B3F042FB037D}"/>
              </a:ext>
            </a:extLst>
          </p:cNvPr>
          <p:cNvSpPr/>
          <p:nvPr userDrawn="1"/>
        </p:nvSpPr>
        <p:spPr>
          <a:xfrm flipH="1" flipV="1">
            <a:off x="11456588" y="738642"/>
            <a:ext cx="20631" cy="2063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8F3018-BD4D-5033-B9E0-75EF98BC07DF}"/>
              </a:ext>
            </a:extLst>
          </p:cNvPr>
          <p:cNvSpPr/>
          <p:nvPr userDrawn="1"/>
        </p:nvSpPr>
        <p:spPr>
          <a:xfrm flipH="1" flipV="1">
            <a:off x="11369547" y="740433"/>
            <a:ext cx="17050" cy="170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BB030AA-3E64-E6DD-EFDD-D556E7F80D75}"/>
              </a:ext>
            </a:extLst>
          </p:cNvPr>
          <p:cNvSpPr/>
          <p:nvPr userDrawn="1"/>
        </p:nvSpPr>
        <p:spPr>
          <a:xfrm>
            <a:off x="11519036" y="162804"/>
            <a:ext cx="461613" cy="433060"/>
          </a:xfrm>
          <a:custGeom>
            <a:avLst/>
            <a:gdLst/>
            <a:ahLst/>
            <a:cxnLst/>
            <a:rect l="l" t="t" r="r" b="b"/>
            <a:pathLst>
              <a:path w="1115148" h="1046171">
                <a:moveTo>
                  <a:pt x="0" y="0"/>
                </a:moveTo>
                <a:lnTo>
                  <a:pt x="1115148" y="0"/>
                </a:lnTo>
                <a:lnTo>
                  <a:pt x="1115148" y="1046171"/>
                </a:lnTo>
                <a:lnTo>
                  <a:pt x="0" y="10461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10377"/>
            </a:stretch>
          </a:blipFill>
        </p:spPr>
        <p:txBody>
          <a:bodyPr/>
          <a:lstStyle/>
          <a:p>
            <a:pPr defTabSz="609630"/>
            <a:endParaRPr lang="en-IN" sz="1200">
              <a:solidFill>
                <a:prstClr val="black"/>
              </a:solidFill>
              <a:latin typeface="Open Sauce Bold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9671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9" r:id="rId4"/>
    <p:sldLayoutId id="2147483940" r:id="rId5"/>
    <p:sldLayoutId id="2147483941" r:id="rId6"/>
    <p:sldLayoutId id="2147483984" r:id="rId7"/>
    <p:sldLayoutId id="2147483985" r:id="rId8"/>
  </p:sldLayoutIdLst>
  <p:hf hd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523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  <p:sldLayoutId id="2147483962" r:id="rId19"/>
    <p:sldLayoutId id="2147483963" r:id="rId20"/>
    <p:sldLayoutId id="2147483964" r:id="rId21"/>
    <p:sldLayoutId id="2147483965" r:id="rId22"/>
    <p:sldLayoutId id="2147483966" r:id="rId23"/>
    <p:sldLayoutId id="2147483967" r:id="rId24"/>
    <p:sldLayoutId id="214748396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6" y="6652762"/>
            <a:ext cx="2228603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2025 | © 3SC Confidential. All rights reserved.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58450E0-7738-5CE5-297A-BF7FAC38465B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3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075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071D9-AA16-5ABA-C5E2-9885CA2D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420709E4-5E6C-455E-CAEE-718215EA7BEA}"/>
              </a:ext>
            </a:extLst>
          </p:cNvPr>
          <p:cNvSpPr txBox="1"/>
          <p:nvPr/>
        </p:nvSpPr>
        <p:spPr>
          <a:xfrm>
            <a:off x="7285512" y="5027516"/>
            <a:ext cx="4942304" cy="54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3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From System of Record →</a:t>
            </a:r>
            <a:r>
              <a:rPr kumimoji="0" lang="en-US" sz="3333" b="0" i="0" u="none" strike="noStrike" kern="1200" cap="none" spc="0" normalizeH="0" baseline="0" noProof="0" dirty="0">
                <a:ln>
                  <a:noFill/>
                </a:ln>
                <a:solidFill>
                  <a:srgbClr val="E75026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 System of Intelligence</a:t>
            </a:r>
            <a:r>
              <a:rPr kumimoji="0" lang="en-US" sz="333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7932B-EE16-3076-E52F-6D62F4FA68C3}"/>
              </a:ext>
            </a:extLst>
          </p:cNvPr>
          <p:cNvSpPr/>
          <p:nvPr/>
        </p:nvSpPr>
        <p:spPr>
          <a:xfrm>
            <a:off x="7020298" y="1099602"/>
            <a:ext cx="4815673" cy="406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Montreal" pitchFamily="2" charset="77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5771A-3066-B7BA-AF85-DDDF0A11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1" t="14103" r="51764" b="8357"/>
          <a:stretch>
            <a:fillRect/>
          </a:stretch>
        </p:blipFill>
        <p:spPr>
          <a:xfrm>
            <a:off x="9162722" y="3496841"/>
            <a:ext cx="912123" cy="735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8BE623-542D-E734-E169-10F0685B9F86}"/>
              </a:ext>
            </a:extLst>
          </p:cNvPr>
          <p:cNvSpPr txBox="1"/>
          <p:nvPr/>
        </p:nvSpPr>
        <p:spPr>
          <a:xfrm>
            <a:off x="10087544" y="3268240"/>
            <a:ext cx="1820059" cy="112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33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3SC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A4EAB-B229-1559-843B-20EF51BB2DBF}"/>
              </a:ext>
            </a:extLst>
          </p:cNvPr>
          <p:cNvSpPr txBox="1"/>
          <p:nvPr/>
        </p:nvSpPr>
        <p:spPr>
          <a:xfrm>
            <a:off x="8650159" y="1372510"/>
            <a:ext cx="2191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800" dirty="0"/>
              <a:t>AI-First HRMS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402E28-5776-DB58-CAF0-AB5601589995}"/>
              </a:ext>
            </a:extLst>
          </p:cNvPr>
          <p:cNvSpPr txBox="1"/>
          <p:nvPr/>
        </p:nvSpPr>
        <p:spPr>
          <a:xfrm>
            <a:off x="7568446" y="1752419"/>
            <a:ext cx="32079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b="1" dirty="0">
                <a:solidFill>
                  <a:srgbClr val="E85025"/>
                </a:solidFill>
              </a:rPr>
              <a:t>H</a:t>
            </a:r>
            <a:r>
              <a:rPr lang="en-IN" sz="4000" b="1" dirty="0">
                <a:solidFill>
                  <a:srgbClr val="E85025"/>
                </a:solidFill>
              </a:rPr>
              <a:t>UMAN 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04800" y="313512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Purpose &amp; Objectives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951264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LeftCol"/>
          <p:cNvSpPr txBox="1"/>
          <p:nvPr/>
        </p:nvSpPr>
        <p:spPr>
          <a:xfrm>
            <a:off x="304800" y="1239492"/>
            <a:ext cx="5486400" cy="33085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228600" bIns="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  <a:t>WHAT WE ARE BUILDING</a:t>
            </a:r>
            <a:b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</a:br>
            <a:endParaRPr lang="en-US" sz="1400" b="1" dirty="0">
              <a:solidFill>
                <a:srgbClr val="999999"/>
              </a:solidFill>
              <a:latin typeface="Neue Montreal" pitchFamily="2" charset="77"/>
            </a:endParaRPr>
          </a:p>
          <a:p>
            <a:pPr>
              <a:spcBef>
                <a:spcPts val="300"/>
              </a:spcBef>
            </a:pPr>
            <a:r>
              <a:rPr lang="en-US" sz="2400" b="1" dirty="0">
                <a:solidFill>
                  <a:srgbClr val="1A1A1A"/>
                </a:solidFill>
                <a:latin typeface="Neue Montreal" pitchFamily="2" charset="77"/>
              </a:rPr>
              <a:t>An in-house, AI-first HRMS</a:t>
            </a:r>
          </a:p>
          <a:p>
            <a:pPr>
              <a:spcBef>
                <a:spcPts val="200"/>
              </a:spcBef>
            </a:pPr>
            <a:r>
              <a:rPr lang="en-US" sz="1600" dirty="0">
                <a:solidFill>
                  <a:srgbClr val="444444"/>
                </a:solidFill>
                <a:latin typeface="Neue Montreal" pitchFamily="2" charset="77"/>
              </a:rPr>
              <a:t>Built and owned entirely by 3SC, replacing third-party SaaS tools and eliminating recurring per-seat licensing costs.</a:t>
            </a:r>
            <a:br>
              <a:rPr lang="en-US" sz="1600" dirty="0">
                <a:solidFill>
                  <a:srgbClr val="444444"/>
                </a:solidFill>
                <a:latin typeface="Neue Montreal" pitchFamily="2" charset="77"/>
              </a:rPr>
            </a:br>
            <a:endParaRPr lang="en-US" sz="1600" dirty="0">
              <a:solidFill>
                <a:srgbClr val="444444"/>
              </a:solidFill>
              <a:latin typeface="Neue Montreal" pitchFamily="2" charset="77"/>
            </a:endParaRPr>
          </a:p>
          <a:p>
            <a:pPr>
              <a:spcBef>
                <a:spcPts val="800"/>
              </a:spcBef>
            </a:pPr>
            <a: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  <a:t>WHY NOW</a:t>
            </a:r>
            <a:b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</a:br>
            <a:endParaRPr lang="en-US" sz="1400" b="1" dirty="0">
              <a:solidFill>
                <a:srgbClr val="999999"/>
              </a:solidFill>
              <a:latin typeface="Neue Montreal" pitchFamily="2" charset="77"/>
            </a:endParaRPr>
          </a:p>
          <a:p>
            <a:pPr>
              <a:spcBef>
                <a:spcPts val="300"/>
              </a:spcBef>
            </a:pPr>
            <a:r>
              <a:rPr lang="en-US" sz="2400" b="1" dirty="0">
                <a:solidFill>
                  <a:srgbClr val="1A1A1A"/>
                </a:solidFill>
                <a:latin typeface="Neue Montreal" pitchFamily="2" charset="77"/>
              </a:rPr>
              <a:t>Current tools store. We need to act.</a:t>
            </a:r>
          </a:p>
          <a:p>
            <a:pPr>
              <a:spcBef>
                <a:spcPts val="200"/>
              </a:spcBef>
            </a:pPr>
            <a:r>
              <a:rPr lang="en-US" sz="1600" dirty="0">
                <a:solidFill>
                  <a:srgbClr val="444444"/>
                </a:solidFill>
                <a:latin typeface="Neue Montreal" pitchFamily="2" charset="77"/>
              </a:rPr>
              <a:t>HR teams spend hours on navigation and manual approvals. There is no proactive intelligence, no risk detection, and no single interface for HR interactions.</a:t>
            </a:r>
          </a:p>
        </p:txBody>
      </p:sp>
      <p:cxnSp>
        <p:nvCxnSpPr>
          <p:cNvPr id="51" name="VDivider"/>
          <p:cNvCxnSpPr>
            <a:cxnSpLocks/>
          </p:cNvCxnSpPr>
          <p:nvPr/>
        </p:nvCxnSpPr>
        <p:spPr>
          <a:xfrm>
            <a:off x="6048000" y="1130632"/>
            <a:ext cx="0" cy="5400000"/>
          </a:xfrm>
          <a:prstGeom prst="line">
            <a:avLst/>
          </a:prstGeom>
          <a:ln w="19050">
            <a:solidFill>
              <a:srgbClr val="E0E0E0"/>
            </a:solidFill>
          </a:ln>
        </p:spPr>
      </p:cxnSp>
      <p:sp>
        <p:nvSpPr>
          <p:cNvPr id="11" name="RightCol"/>
          <p:cNvSpPr txBox="1"/>
          <p:nvPr/>
        </p:nvSpPr>
        <p:spPr>
          <a:xfrm>
            <a:off x="6248000" y="1239492"/>
            <a:ext cx="5639200" cy="3870290"/>
          </a:xfrm>
          <a:prstGeom prst="rect">
            <a:avLst/>
          </a:prstGeom>
          <a:noFill/>
          <a:ln>
            <a:noFill/>
          </a:ln>
        </p:spPr>
        <p:txBody>
          <a:bodyPr wrap="square" lIns="228600" tIns="0" rIns="0" bIns="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1400" b="1" dirty="0">
                <a:solidFill>
                  <a:srgbClr val="999999"/>
                </a:solidFill>
                <a:latin typeface="Neue Montreal" pitchFamily="2" charset="77"/>
              </a:rPr>
              <a:t>KEY OBJECTIVES</a:t>
            </a: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01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Cost Reduction</a:t>
            </a:r>
          </a:p>
          <a:p>
            <a:pPr>
              <a:spcBef>
                <a:spcPts val="100"/>
              </a:spcBef>
            </a:pPr>
            <a:r>
              <a:rPr lang="en-US" sz="1600" dirty="0">
                <a:solidFill>
                  <a:srgbClr val="555555"/>
                </a:solidFill>
                <a:latin typeface="Neue Montreal" pitchFamily="2" charset="77"/>
              </a:rPr>
              <a:t>Eliminate SaaS licensing. Build once, own permanently.</a:t>
            </a:r>
          </a:p>
          <a:p>
            <a:pPr>
              <a:spcBef>
                <a:spcPts val="100"/>
              </a:spcBef>
            </a:pPr>
            <a:endParaRPr lang="en-US" sz="1400" dirty="0">
              <a:solidFill>
                <a:srgbClr val="555555"/>
              </a:solidFill>
              <a:latin typeface="Neue Montreal" pitchFamily="2" charset="77"/>
            </a:endParaRP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02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HR Efficiency</a:t>
            </a:r>
          </a:p>
          <a:p>
            <a:pPr>
              <a:spcBef>
                <a:spcPts val="100"/>
              </a:spcBef>
            </a:pPr>
            <a:r>
              <a:rPr lang="en-US" sz="1600" dirty="0">
                <a:solidFill>
                  <a:srgbClr val="555555"/>
                </a:solidFill>
                <a:latin typeface="Neue Montreal" pitchFamily="2" charset="77"/>
              </a:rPr>
              <a:t>Full React UI + unified chat interface. Every action is RBAC-controlled by role.</a:t>
            </a:r>
          </a:p>
          <a:p>
            <a:pPr>
              <a:spcBef>
                <a:spcPts val="100"/>
              </a:spcBef>
            </a:pPr>
            <a:endParaRPr lang="en-US" sz="1400" dirty="0">
              <a:solidFill>
                <a:srgbClr val="555555"/>
              </a:solidFill>
              <a:latin typeface="Neue Montreal" pitchFamily="2" charset="77"/>
            </a:endParaRP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03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AI Analytics &amp; Risk Alerting</a:t>
            </a:r>
          </a:p>
          <a:p>
            <a:pPr>
              <a:spcBef>
                <a:spcPts val="100"/>
              </a:spcBef>
            </a:pPr>
            <a:r>
              <a:rPr lang="en-US" sz="1500" dirty="0">
                <a:solidFill>
                  <a:srgbClr val="555555"/>
                </a:solidFill>
                <a:latin typeface="Neue Montreal" pitchFamily="2" charset="77"/>
              </a:rPr>
              <a:t>Proactive burnout detection, attendance anomalies, leave conflict alerts</a:t>
            </a:r>
            <a:r>
              <a:rPr lang="en-US" sz="1400" dirty="0">
                <a:solidFill>
                  <a:srgbClr val="555555"/>
                </a:solidFill>
                <a:latin typeface="Neue Montreal" pitchFamily="2" charset="77"/>
              </a:rPr>
              <a:t>.</a:t>
            </a:r>
          </a:p>
          <a:p>
            <a:pPr>
              <a:spcBef>
                <a:spcPts val="100"/>
              </a:spcBef>
            </a:pPr>
            <a:endParaRPr lang="en-US" sz="1400" dirty="0">
              <a:solidFill>
                <a:srgbClr val="555555"/>
              </a:solidFill>
              <a:latin typeface="Neue Montreal" pitchFamily="2" charset="77"/>
            </a:endParaRPr>
          </a:p>
          <a:p>
            <a:pPr>
              <a:spcBef>
                <a:spcPts val="500"/>
              </a:spcBef>
            </a:pPr>
            <a:r>
              <a:rPr lang="en-US" sz="2000" b="1" dirty="0">
                <a:solidFill>
                  <a:srgbClr val="E85025"/>
                </a:solidFill>
                <a:latin typeface="Neue Montreal" pitchFamily="2" charset="77"/>
              </a:rPr>
              <a:t>04</a:t>
            </a:r>
            <a:r>
              <a:rPr lang="en-US" sz="2000" b="1" dirty="0">
                <a:solidFill>
                  <a:srgbClr val="1A1A1A"/>
                </a:solidFill>
                <a:latin typeface="Neue Montreal" pitchFamily="2" charset="77"/>
              </a:rPr>
              <a:t>  RAG-Powered Policy Answers</a:t>
            </a:r>
          </a:p>
          <a:p>
            <a:pPr>
              <a:spcBef>
                <a:spcPts val="100"/>
              </a:spcBef>
            </a:pPr>
            <a:r>
              <a:rPr lang="en-US" sz="1500" dirty="0">
                <a:solidFill>
                  <a:srgbClr val="555555"/>
                </a:solidFill>
                <a:latin typeface="Neue Montreal" pitchFamily="2" charset="77"/>
              </a:rPr>
              <a:t>HR policies and rules embedded via RAG — instant, accurate answers.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04800" y="215538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Why We Are Different</a:t>
            </a:r>
          </a:p>
        </p:txBody>
      </p:sp>
      <p:sp>
        <p:nvSpPr>
          <p:cNvPr id="3" name="Sub"/>
          <p:cNvSpPr txBox="1"/>
          <p:nvPr/>
        </p:nvSpPr>
        <p:spPr>
          <a:xfrm>
            <a:off x="304800" y="787974"/>
            <a:ext cx="1158240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Every module is re-imagined - from passive record-keeping to active intelligence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736202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ColHdrKeka"/>
          <p:cNvSpPr txBox="1"/>
          <p:nvPr/>
        </p:nvSpPr>
        <p:spPr>
          <a:xfrm>
            <a:off x="3657600" y="1208860"/>
            <a:ext cx="3657600" cy="34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228600" tIns="76200" rIns="228600" bIns="762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666666"/>
                </a:solidFill>
                <a:latin typeface="Neue Montreal" pitchFamily="2" charset="77"/>
              </a:rPr>
              <a:t>KEKA (Today)</a:t>
            </a:r>
          </a:p>
        </p:txBody>
      </p:sp>
      <p:sp>
        <p:nvSpPr>
          <p:cNvPr id="11" name="ColHdrUs"/>
          <p:cNvSpPr txBox="1"/>
          <p:nvPr/>
        </p:nvSpPr>
        <p:spPr>
          <a:xfrm>
            <a:off x="7619400" y="1208860"/>
            <a:ext cx="4267200" cy="34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76200" rIns="228600" bIns="762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Our Approach</a:t>
            </a:r>
          </a:p>
        </p:txBody>
      </p:sp>
      <p:sp>
        <p:nvSpPr>
          <p:cNvPr id="20" name="R1Module"/>
          <p:cNvSpPr txBox="1"/>
          <p:nvPr/>
        </p:nvSpPr>
        <p:spPr>
          <a:xfrm>
            <a:off x="304800" y="1692404"/>
            <a:ext cx="3200000" cy="10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Employee Management</a:t>
            </a:r>
          </a:p>
          <a:p>
            <a:pPr>
              <a:spcBef>
                <a:spcPts val="100"/>
              </a:spcBef>
            </a:pPr>
            <a:r>
              <a:rPr lang="en-US" sz="1200" i="1">
                <a:solidFill>
                  <a:srgbClr val="AAAAAA"/>
                </a:solidFill>
                <a:latin typeface="Neue Montreal" pitchFamily="2" charset="77"/>
              </a:rPr>
              <a:t>Profiles to risk intelligence</a:t>
            </a:r>
          </a:p>
        </p:txBody>
      </p:sp>
      <p:sp>
        <p:nvSpPr>
          <p:cNvPr id="21" name="R1Keka"/>
          <p:cNvSpPr txBox="1"/>
          <p:nvPr/>
        </p:nvSpPr>
        <p:spPr>
          <a:xfrm>
            <a:off x="3657600" y="1725058"/>
            <a:ext cx="3657600" cy="105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Neue Montreal" pitchFamily="2" charset="77"/>
              </a:rPr>
              <a:t>Stores employee data</a:t>
            </a:r>
          </a:p>
        </p:txBody>
      </p:sp>
      <p:sp>
        <p:nvSpPr>
          <p:cNvPr id="22" name="R1Us"/>
          <p:cNvSpPr txBox="1"/>
          <p:nvPr/>
        </p:nvSpPr>
        <p:spPr>
          <a:xfrm>
            <a:off x="7619400" y="1725058"/>
            <a:ext cx="4267200" cy="1050000"/>
          </a:xfrm>
          <a:prstGeom prst="rect">
            <a:avLst/>
          </a:prstGeom>
          <a:solidFill>
            <a:srgbClr val="FFF3F0"/>
          </a:solidFill>
          <a:ln w="19050">
            <a:solidFill>
              <a:srgbClr val="E85025"/>
            </a:solidFill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 b="1">
                <a:solidFill>
                  <a:srgbClr val="E85025"/>
                </a:solidFill>
                <a:latin typeface="Neue Montreal" pitchFamily="2" charset="77"/>
              </a:rPr>
              <a:t>Convert employee data into proactive risk signals</a:t>
            </a:r>
          </a:p>
        </p:txBody>
      </p:sp>
      <p:sp>
        <p:nvSpPr>
          <p:cNvPr id="30" name="R2Module"/>
          <p:cNvSpPr txBox="1"/>
          <p:nvPr/>
        </p:nvSpPr>
        <p:spPr>
          <a:xfrm>
            <a:off x="304800" y="2842404"/>
            <a:ext cx="3200000" cy="11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Attendance</a:t>
            </a:r>
          </a:p>
          <a:p>
            <a:pPr>
              <a:spcBef>
                <a:spcPts val="100"/>
              </a:spcBef>
            </a:pPr>
            <a:r>
              <a:rPr lang="en-US" sz="1200" i="1">
                <a:solidFill>
                  <a:srgbClr val="AAAAAA"/>
                </a:solidFill>
                <a:latin typeface="Neue Montreal" pitchFamily="2" charset="77"/>
              </a:rPr>
              <a:t>Compliance to burnout detection</a:t>
            </a:r>
          </a:p>
        </p:txBody>
      </p:sp>
      <p:sp>
        <p:nvSpPr>
          <p:cNvPr id="31" name="R2Keka"/>
          <p:cNvSpPr txBox="1"/>
          <p:nvPr/>
        </p:nvSpPr>
        <p:spPr>
          <a:xfrm>
            <a:off x="3657600" y="2875058"/>
            <a:ext cx="3657600" cy="115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Neue Montreal" pitchFamily="2" charset="77"/>
              </a:rPr>
              <a:t>Tracks attendance for payroll</a:t>
            </a:r>
          </a:p>
        </p:txBody>
      </p:sp>
      <p:sp>
        <p:nvSpPr>
          <p:cNvPr id="32" name="R2Us"/>
          <p:cNvSpPr txBox="1"/>
          <p:nvPr/>
        </p:nvSpPr>
        <p:spPr>
          <a:xfrm>
            <a:off x="7619400" y="2875058"/>
            <a:ext cx="4267200" cy="1150000"/>
          </a:xfrm>
          <a:prstGeom prst="rect">
            <a:avLst/>
          </a:prstGeom>
          <a:solidFill>
            <a:srgbClr val="FFF3F0"/>
          </a:solidFill>
          <a:ln w="19050">
            <a:solidFill>
              <a:srgbClr val="E85025"/>
            </a:solidFill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 b="1">
                <a:solidFill>
                  <a:srgbClr val="E85025"/>
                </a:solidFill>
                <a:latin typeface="Neue Montreal" pitchFamily="2" charset="77"/>
              </a:rPr>
              <a:t>Analyze time patterns for employee wellbeing + live detection of irregular attendance</a:t>
            </a:r>
          </a:p>
        </p:txBody>
      </p:sp>
      <p:sp>
        <p:nvSpPr>
          <p:cNvPr id="40" name="R3Module"/>
          <p:cNvSpPr txBox="1"/>
          <p:nvPr/>
        </p:nvSpPr>
        <p:spPr>
          <a:xfrm>
            <a:off x="304800" y="4092404"/>
            <a:ext cx="3200000" cy="105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Leave Management</a:t>
            </a:r>
          </a:p>
          <a:p>
            <a:pPr>
              <a:spcBef>
                <a:spcPts val="100"/>
              </a:spcBef>
            </a:pPr>
            <a:r>
              <a:rPr lang="en-US" sz="1200" i="1">
                <a:solidFill>
                  <a:srgbClr val="AAAAAA"/>
                </a:solidFill>
                <a:latin typeface="Neue Montreal" pitchFamily="2" charset="77"/>
              </a:rPr>
              <a:t>Approvals to predictive planning</a:t>
            </a:r>
          </a:p>
        </p:txBody>
      </p:sp>
      <p:sp>
        <p:nvSpPr>
          <p:cNvPr id="41" name="R3Keka"/>
          <p:cNvSpPr txBox="1"/>
          <p:nvPr/>
        </p:nvSpPr>
        <p:spPr>
          <a:xfrm>
            <a:off x="3657600" y="4125058"/>
            <a:ext cx="3657600" cy="105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Neue Montreal" pitchFamily="2" charset="77"/>
              </a:rPr>
              <a:t>Manages leave transactions</a:t>
            </a:r>
          </a:p>
        </p:txBody>
      </p:sp>
      <p:sp>
        <p:nvSpPr>
          <p:cNvPr id="42" name="R3Us"/>
          <p:cNvSpPr txBox="1"/>
          <p:nvPr/>
        </p:nvSpPr>
        <p:spPr>
          <a:xfrm>
            <a:off x="7619400" y="4125058"/>
            <a:ext cx="4267200" cy="1050000"/>
          </a:xfrm>
          <a:prstGeom prst="rect">
            <a:avLst/>
          </a:prstGeom>
          <a:solidFill>
            <a:srgbClr val="FFF3F0"/>
          </a:solidFill>
          <a:ln w="19050">
            <a:solidFill>
              <a:srgbClr val="E85025"/>
            </a:solidFill>
          </a:ln>
        </p:spPr>
        <p:txBody>
          <a:bodyPr wrap="square" lIns="228600" tIns="152400" rIns="228600" bIns="152400" rtlCol="0" anchor="ctr">
            <a:spAutoFit/>
          </a:bodyPr>
          <a:lstStyle/>
          <a:p>
            <a:r>
              <a:rPr lang="en-US" sz="1400" b="1" dirty="0">
                <a:solidFill>
                  <a:srgbClr val="E85025"/>
                </a:solidFill>
                <a:latin typeface="Neue Montreal" pitchFamily="2" charset="77"/>
              </a:rPr>
              <a:t>Predict leave impact on teams and enable proactive planning</a:t>
            </a:r>
          </a:p>
        </p:txBody>
      </p:sp>
      <p:cxnSp>
        <p:nvCxnSpPr>
          <p:cNvPr id="60" name="Sep1"/>
          <p:cNvCxnSpPr>
            <a:cxnSpLocks/>
          </p:cNvCxnSpPr>
          <p:nvPr/>
        </p:nvCxnSpPr>
        <p:spPr>
          <a:xfrm>
            <a:off x="304800" y="2690000"/>
            <a:ext cx="11582400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cxnSp>
        <p:nvCxnSpPr>
          <p:cNvPr id="61" name="Sep2"/>
          <p:cNvCxnSpPr>
            <a:cxnSpLocks/>
          </p:cNvCxnSpPr>
          <p:nvPr/>
        </p:nvCxnSpPr>
        <p:spPr>
          <a:xfrm>
            <a:off x="304800" y="3940000"/>
            <a:ext cx="11582400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70" name="Tagline"/>
          <p:cNvSpPr txBox="1"/>
          <p:nvPr/>
        </p:nvSpPr>
        <p:spPr>
          <a:xfrm>
            <a:off x="304800" y="5450337"/>
            <a:ext cx="11582400" cy="76944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04800" tIns="152400" rIns="304800" bIns="152400" rtlCol="0" anchor="ctr">
            <a:spAutoFit/>
          </a:bodyPr>
          <a:lstStyle/>
          <a:p>
            <a:pPr algn="ctr"/>
            <a:r>
              <a:rPr lang="en-US" sz="1500" dirty="0">
                <a:solidFill>
                  <a:srgbClr val="AAAAAA"/>
                </a:solidFill>
                <a:latin typeface="Neue Montreal" pitchFamily="2" charset="77"/>
              </a:rPr>
              <a:t>RAG Layer — HR policies and leave rules embedded as knowledge. Every query is validated against company guidelines before a response is returned.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AA7A-3449-2602-DB10-36CE7A61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A0C7-21E3-5A57-582C-D613BA62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438292"/>
            <a:ext cx="10387891" cy="407923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</a:rPr>
              <a:t>The Problem with Today’s HRMS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5BDD7-C4A8-C48E-AC20-B157643654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678" y="891527"/>
            <a:ext cx="11604703" cy="281935"/>
          </a:xfrm>
        </p:spPr>
        <p:txBody>
          <a:bodyPr/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Why existing tools like Keka are no longer enough</a:t>
            </a:r>
          </a:p>
        </p:txBody>
      </p:sp>
      <p:sp>
        <p:nvSpPr>
          <p:cNvPr id="20" name="ProbCard1"/>
          <p:cNvSpPr txBox="1"/>
          <p:nvPr/>
        </p:nvSpPr>
        <p:spPr>
          <a:xfrm>
            <a:off x="304800" y="1415146"/>
            <a:ext cx="3777342" cy="402161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UI Overload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HR teams navigate 10+ screens to complete a single workflow.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Reactive, Not Proactive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No early warnings — managers learn about burnout after the fact.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High License Cost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Per-seat SaaS fees grow linearly with headcount.</a:t>
            </a:r>
          </a:p>
        </p:txBody>
      </p:sp>
      <p:sp>
        <p:nvSpPr>
          <p:cNvPr id="21" name="ProbCard2"/>
          <p:cNvSpPr txBox="1"/>
          <p:nvPr/>
        </p:nvSpPr>
        <p:spPr>
          <a:xfrm>
            <a:off x="4267200" y="1415146"/>
            <a:ext cx="3657600" cy="402161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No Intelligence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Data is stored but never analyzed for patterns or risk.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Fragmented Experience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Every module is a separate app — no unified interface.</a:t>
            </a:r>
          </a:p>
          <a:p>
            <a:pPr>
              <a:spcBef>
                <a:spcPts val="800"/>
              </a:spcBef>
            </a:pPr>
            <a:r>
              <a:rPr lang="en-US" sz="2800" b="1" dirty="0">
                <a:solidFill>
                  <a:srgbClr val="E85025"/>
                </a:solidFill>
                <a:latin typeface="Neue Montreal" pitchFamily="2" charset="77"/>
              </a:rPr>
              <a:t>Manual Approvals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333333"/>
                </a:solidFill>
                <a:latin typeface="Neue Montreal" pitchFamily="2" charset="77"/>
              </a:rPr>
              <a:t>Leave, attendance corrections, and queries require manual follow-up.</a:t>
            </a:r>
          </a:p>
        </p:txBody>
      </p:sp>
      <p:sp>
        <p:nvSpPr>
          <p:cNvPr id="22" name="ProbCallout"/>
          <p:cNvSpPr txBox="1"/>
          <p:nvPr/>
        </p:nvSpPr>
        <p:spPr>
          <a:xfrm>
            <a:off x="8207828" y="1317683"/>
            <a:ext cx="3531553" cy="4216539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304800" tIns="304800" rIns="304800" bIns="3048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>
                <a:solidFill>
                  <a:srgbClr val="FFFFFF"/>
                </a:solidFill>
                <a:latin typeface="Neue Montreal" pitchFamily="2" charset="77"/>
              </a:rPr>
              <a:t>Keka</a:t>
            </a:r>
          </a:p>
          <a:p>
            <a:pPr algn="ctr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Neue Montreal" pitchFamily="2" charset="77"/>
              </a:rPr>
              <a:t>Stores data.</a:t>
            </a:r>
          </a:p>
          <a:p>
            <a:pPr algn="ctr">
              <a:spcBef>
                <a:spcPts val="800"/>
              </a:spcBef>
            </a:pPr>
            <a:r>
              <a:rPr lang="en-US" sz="7200" b="1" dirty="0">
                <a:solidFill>
                  <a:srgbClr val="FFFFFF"/>
                </a:solidFill>
                <a:latin typeface="Neue Montreal" pitchFamily="2" charset="77"/>
              </a:rPr>
              <a:t>We</a:t>
            </a:r>
          </a:p>
          <a:p>
            <a:pPr algn="ctr">
              <a:spcBef>
                <a:spcPts val="200"/>
              </a:spcBef>
            </a:pPr>
            <a:r>
              <a:rPr lang="en-US" sz="2400" dirty="0">
                <a:solidFill>
                  <a:srgbClr val="FFFFFF"/>
                </a:solidFill>
                <a:latin typeface="Neue Montreal" pitchFamily="2" charset="77"/>
              </a:rPr>
              <a:t>Generate intelligence</a:t>
            </a:r>
            <a:r>
              <a:rPr lang="en-US" sz="1600" dirty="0">
                <a:solidFill>
                  <a:srgbClr val="FFFFFF"/>
                </a:solidFill>
                <a:latin typeface="Neue Montreal" pitchFamily="2" charset="77"/>
              </a:rPr>
              <a:t>.</a:t>
            </a:r>
            <a:br>
              <a:rPr lang="en-US" sz="160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1600" dirty="0">
                <a:solidFill>
                  <a:srgbClr val="FFFFFF"/>
                </a:solidFill>
                <a:latin typeface="Neue Montreal" pitchFamily="2" charset="77"/>
              </a:rPr>
            </a:br>
            <a:endParaRPr lang="en-US" sz="1600" dirty="0">
              <a:solidFill>
                <a:srgbClr val="FFFFFF"/>
              </a:solidFill>
              <a:latin typeface="Neue Montreal" pitchFamily="2" charset="77"/>
            </a:endParaRP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6311E13-9FB2-8666-E52E-F47DAF3BF0CA}"/>
              </a:ext>
            </a:extLst>
          </p:cNvPr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  <p:extLst>
      <p:ext uri="{BB962C8B-B14F-4D97-AF65-F5344CB8AC3E}">
        <p14:creationId xmlns:p14="http://schemas.microsoft.com/office/powerpoint/2010/main" val="280741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56645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Neue Montreal" pitchFamily="2" charset="77"/>
              </a:rPr>
              <a:t>The Solution: </a:t>
            </a:r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HUMAN EDGE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04800" y="814067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Replace UI workflows with intelligent chat-based interaction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768860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Box10"/>
          <p:cNvSpPr txBox="1"/>
          <p:nvPr/>
        </p:nvSpPr>
        <p:spPr>
          <a:xfrm>
            <a:off x="304800" y="1235062"/>
            <a:ext cx="3657600" cy="441915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200" b="1" i="0" dirty="0">
                <a:solidFill>
                  <a:srgbClr val="E85025"/>
                </a:solidFill>
                <a:latin typeface="Neue Montreal" pitchFamily="2" charset="77"/>
              </a:rPr>
              <a:t>Unified Platform: Full UI + Chat</a:t>
            </a:r>
          </a:p>
          <a:p>
            <a:pPr algn="l">
              <a:spcBef>
                <a:spcPts val="300"/>
              </a:spcBef>
            </a:pPr>
            <a: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  <a:t>Full React UI (dashboards, admin, self-service) + unified chat interface — both in one platform</a:t>
            </a:r>
            <a:b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</a:br>
            <a:endParaRPr lang="en-US" sz="1500" b="0" i="0" dirty="0">
              <a:solidFill>
                <a:srgbClr val="333333"/>
              </a:solidFill>
              <a:latin typeface="Neue Montreal" pitchFamily="2" charset="77"/>
            </a:endParaRPr>
          </a:p>
          <a:p>
            <a:pPr algn="l">
              <a:spcBef>
                <a:spcPts val="700"/>
              </a:spcBef>
            </a:pPr>
            <a:r>
              <a:rPr lang="en-US" sz="2200" b="1" i="0" dirty="0">
                <a:solidFill>
                  <a:srgbClr val="E85025"/>
                </a:solidFill>
                <a:latin typeface="Neue Montreal" pitchFamily="2" charset="77"/>
              </a:rPr>
              <a:t>MCP-Powered Actions</a:t>
            </a:r>
          </a:p>
          <a:p>
            <a:pPr algn="l">
              <a:spcBef>
                <a:spcPts val="300"/>
              </a:spcBef>
            </a:pPr>
            <a: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  <a:t>LLM + MCP tools translate natural language into system actions, gated by RBAC at every step</a:t>
            </a:r>
            <a:b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</a:br>
            <a:endParaRPr lang="en-US" sz="1500" b="0" i="0" dirty="0">
              <a:solidFill>
                <a:srgbClr val="333333"/>
              </a:solidFill>
              <a:latin typeface="Neue Montreal" pitchFamily="2" charset="77"/>
            </a:endParaRPr>
          </a:p>
          <a:p>
            <a:pPr algn="l">
              <a:spcBef>
                <a:spcPts val="700"/>
              </a:spcBef>
            </a:pPr>
            <a:r>
              <a:rPr lang="en-US" sz="2200" b="1" i="0" dirty="0">
                <a:solidFill>
                  <a:srgbClr val="E85025"/>
                </a:solidFill>
                <a:latin typeface="Neue Montreal" pitchFamily="2" charset="77"/>
              </a:rPr>
              <a:t>AI Intelligence</a:t>
            </a:r>
          </a:p>
          <a:p>
            <a:pPr algn="l">
              <a:spcBef>
                <a:spcPts val="300"/>
              </a:spcBef>
            </a:pPr>
            <a:r>
              <a:rPr lang="en-US" sz="1500" b="0" i="0" dirty="0">
                <a:solidFill>
                  <a:srgbClr val="333333"/>
                </a:solidFill>
                <a:latin typeface="Neue Montreal" pitchFamily="2" charset="77"/>
              </a:rPr>
              <a:t>Burnout detection, leave forecasting, anomaly alerts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4267200" y="1235062"/>
            <a:ext cx="3657600" cy="4316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800" b="1" i="0" dirty="0">
                <a:solidFill>
                  <a:srgbClr val="999999"/>
                </a:solidFill>
                <a:latin typeface="Neue Montreal" pitchFamily="2" charset="77"/>
              </a:rPr>
              <a:t>Keka Says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  <a:t>Tracks leave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  <a:t>Records attendance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  <a:t>Stores employee data</a:t>
            </a:r>
            <a:br>
              <a:rPr lang="en-US" b="0" i="0" dirty="0">
                <a:solidFill>
                  <a:srgbClr val="555555"/>
                </a:solidFill>
                <a:latin typeface="Neue Montreal" pitchFamily="2" charset="77"/>
              </a:rPr>
            </a:br>
            <a:endParaRPr lang="en-US" b="0" i="0" dirty="0">
              <a:solidFill>
                <a:srgbClr val="555555"/>
              </a:solidFill>
              <a:latin typeface="Neue Montreal" pitchFamily="2" charset="77"/>
            </a:endParaRPr>
          </a:p>
          <a:p>
            <a:pPr algn="l">
              <a:spcBef>
                <a:spcPts val="700"/>
              </a:spcBef>
            </a:pPr>
            <a:r>
              <a:rPr lang="en-US" sz="2800" b="1" i="0" dirty="0">
                <a:solidFill>
                  <a:srgbClr val="E85025"/>
                </a:solidFill>
                <a:latin typeface="Neue Montreal" pitchFamily="2" charset="77"/>
              </a:rPr>
              <a:t>We Do:</a:t>
            </a:r>
          </a:p>
          <a:p>
            <a:pPr marL="285750" indent="-285750" algn="l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  <a:t>Predicts &amp; prevents leave conflicts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  <a:t>Detects burnout &amp; anomalies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  <a:t>Generates risk intelligence</a:t>
            </a:r>
            <a:b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</a:br>
            <a:br>
              <a:rPr lang="en-US" b="0" i="0" dirty="0">
                <a:solidFill>
                  <a:srgbClr val="333333"/>
                </a:solidFill>
                <a:latin typeface="Neue Montreal" pitchFamily="2" charset="77"/>
              </a:rPr>
            </a:br>
            <a:endParaRPr lang="en-US" sz="1500" b="0" i="0" dirty="0">
              <a:solidFill>
                <a:srgbClr val="333333"/>
              </a:solidFill>
              <a:latin typeface="Neue Montreal" pitchFamily="2" charset="77"/>
            </a:endParaRPr>
          </a:p>
        </p:txBody>
      </p:sp>
      <p:sp>
        <p:nvSpPr>
          <p:cNvPr id="12" name="Box12"/>
          <p:cNvSpPr txBox="1"/>
          <p:nvPr/>
        </p:nvSpPr>
        <p:spPr>
          <a:xfrm>
            <a:off x="8229600" y="1213290"/>
            <a:ext cx="3657600" cy="520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i="0">
                <a:solidFill>
                  <a:srgbClr val="FFFFFF"/>
                </a:solidFill>
                <a:latin typeface="Neue Montreal" pitchFamily="2" charset="77"/>
              </a:rPr>
              <a:t>User types:</a:t>
            </a:r>
          </a:p>
          <a:p>
            <a:pPr algn="l">
              <a:spcBef>
                <a:spcPts val="200"/>
              </a:spcBef>
            </a:pPr>
            <a:r>
              <a:rPr lang="en-US" sz="1600" b="0" i="1">
                <a:solidFill>
                  <a:srgbClr val="FFFFFF"/>
                </a:solidFill>
                <a:latin typeface="Neue Montreal" pitchFamily="2" charset="77"/>
              </a:rPr>
              <a:t>“Apply 2 CL next week”</a:t>
            </a:r>
          </a:p>
          <a:p>
            <a:pPr algn="ctr">
              <a:spcBef>
                <a:spcPts val="300"/>
              </a:spcBef>
            </a:pPr>
            <a:r>
              <a:rPr lang="en-US" sz="2000" b="0" i="0">
                <a:solidFill>
                  <a:srgbClr val="FFFFFF"/>
                </a:solidFill>
                <a:latin typeface="Neue Montreal" pitchFamily="2" charset="77"/>
              </a:rPr>
              <a:t>↓</a:t>
            </a:r>
          </a:p>
          <a:p>
            <a:pPr algn="ctr">
              <a:spcBef>
                <a:spcPts val="100"/>
              </a:spcBef>
            </a:pPr>
            <a:r>
              <a:rPr lang="en-US" sz="1600" b="1" i="0">
                <a:solidFill>
                  <a:srgbClr val="FFFFFF"/>
                </a:solidFill>
                <a:latin typeface="Neue Montreal" pitchFamily="2" charset="77"/>
              </a:rPr>
              <a:t>LLM + MCP</a:t>
            </a:r>
          </a:p>
          <a:p>
            <a:pPr algn="ctr">
              <a:spcBef>
                <a:spcPts val="0"/>
              </a:spcBef>
            </a:pPr>
            <a:r>
              <a:rPr lang="en-US" sz="1400" b="0" i="0">
                <a:solidFill>
                  <a:srgbClr val="FFFFFF"/>
                </a:solidFill>
                <a:latin typeface="Neue Montreal" pitchFamily="2" charset="77"/>
              </a:rPr>
              <a:t>orchestrates</a:t>
            </a:r>
          </a:p>
          <a:p>
            <a:pPr algn="ctr">
              <a:spcBef>
                <a:spcPts val="100"/>
              </a:spcBef>
            </a:pPr>
            <a:r>
              <a:rPr lang="en-US" sz="2000" b="0" i="0">
                <a:solidFill>
                  <a:srgbClr val="FFFFFF"/>
                </a:solidFill>
                <a:latin typeface="Neue Montreal" pitchFamily="2" charset="77"/>
              </a:rPr>
              <a:t>↓</a:t>
            </a:r>
          </a:p>
          <a:p>
            <a:pPr algn="ctr">
              <a:spcBef>
                <a:spcPts val="100"/>
              </a:spcBef>
            </a:pPr>
            <a:r>
              <a:rPr lang="en-US" sz="1600" b="1" i="0">
                <a:solidFill>
                  <a:srgbClr val="FFFFFF"/>
                </a:solidFill>
                <a:latin typeface="Neue Montreal" pitchFamily="2" charset="77"/>
              </a:rPr>
              <a:t>Leave API called.</a:t>
            </a:r>
          </a:p>
          <a:p>
            <a:pPr algn="ctr">
              <a:spcBef>
                <a:spcPts val="0"/>
              </a:spcBef>
            </a:pPr>
            <a:r>
              <a:rPr lang="en-US" sz="1600" b="0" i="0">
                <a:solidFill>
                  <a:srgbClr val="FFFFFF"/>
                </a:solidFill>
                <a:latin typeface="Neue Montreal" pitchFamily="2" charset="77"/>
              </a:rPr>
              <a:t>Done. ✔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Edge| 3SC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7914"/>
            <a:ext cx="11582400" cy="480060"/>
          </a:xfrm>
        </p:spPr>
        <p:txBody>
          <a:bodyPr/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V1 Modules + AI Enhancements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04800" y="965493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Three modules, supercharged with intelligence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932146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Box10"/>
          <p:cNvSpPr txBox="1"/>
          <p:nvPr/>
        </p:nvSpPr>
        <p:spPr>
          <a:xfrm>
            <a:off x="304800" y="1546318"/>
            <a:ext cx="3657600" cy="175689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 dirty="0">
                <a:solidFill>
                  <a:srgbClr val="1A1A1A"/>
                </a:solidFill>
                <a:latin typeface="Neue Montreal" pitchFamily="2" charset="77"/>
              </a:rPr>
              <a:t>Employee Management</a:t>
            </a:r>
          </a:p>
          <a:p>
            <a:pPr algn="l">
              <a:spcBef>
                <a:spcPts val="250"/>
              </a:spcBef>
            </a:pPr>
            <a:r>
              <a:rPr lang="en-US" sz="1400" b="0" i="1" dirty="0">
                <a:solidFill>
                  <a:srgbClr val="888888"/>
                </a:solidFill>
                <a:latin typeface="Neue Montreal" pitchFamily="2" charset="77"/>
              </a:rPr>
              <a:t>Before:  Directory + org chart</a:t>
            </a:r>
            <a:br>
              <a:rPr lang="en-US" sz="1400" b="0" i="1" dirty="0">
                <a:solidFill>
                  <a:srgbClr val="888888"/>
                </a:solidFill>
                <a:latin typeface="Neue Montreal" pitchFamily="2" charset="77"/>
              </a:rPr>
            </a:br>
            <a:endParaRPr lang="en-US" sz="1400" b="0" i="1" dirty="0">
              <a:solidFill>
                <a:srgbClr val="888888"/>
              </a:solidFill>
              <a:latin typeface="Neue Montreal" pitchFamily="2" charset="77"/>
            </a:endParaRPr>
          </a:p>
          <a:p>
            <a:pPr algn="l">
              <a:spcBef>
                <a:spcPts val="200"/>
              </a:spcBef>
            </a:pPr>
            <a:r>
              <a:rPr lang="en-US" sz="1600" b="1" i="0" dirty="0">
                <a:solidFill>
                  <a:srgbClr val="E85025"/>
                </a:solidFill>
                <a:latin typeface="Neue Montreal" pitchFamily="2" charset="77"/>
              </a:rPr>
              <a:t>→  Smart search + policy Q&amp;A via chat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4267200" y="1546318"/>
            <a:ext cx="3657600" cy="164916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900" b="1" i="0" dirty="0">
                <a:solidFill>
                  <a:srgbClr val="1A1A1A"/>
                </a:solidFill>
                <a:latin typeface="Neue Montreal" pitchFamily="2" charset="77"/>
              </a:rPr>
              <a:t>Leave Management</a:t>
            </a:r>
          </a:p>
          <a:p>
            <a:pPr algn="l">
              <a:spcBef>
                <a:spcPts val="250"/>
              </a:spcBef>
            </a:pPr>
            <a: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  <a:t>Before:  Apply &amp; approve forms</a:t>
            </a:r>
            <a:b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</a:br>
            <a:endParaRPr lang="en-US" sz="1300" b="0" i="1" dirty="0">
              <a:solidFill>
                <a:srgbClr val="888888"/>
              </a:solidFill>
              <a:latin typeface="Neue Montreal" pitchFamily="2" charset="77"/>
            </a:endParaRPr>
          </a:p>
          <a:p>
            <a:pPr algn="l">
              <a:spcBef>
                <a:spcPts val="200"/>
              </a:spcBef>
            </a:pPr>
            <a:r>
              <a:rPr lang="en-US" sz="1400" b="1" i="0" dirty="0">
                <a:solidFill>
                  <a:srgbClr val="E85025"/>
                </a:solidFill>
                <a:latin typeface="Neue Montreal" pitchFamily="2" charset="77"/>
              </a:rPr>
              <a:t>→  Predictive conflict alerts + one-line apply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8229600" y="1546318"/>
            <a:ext cx="3657600" cy="164916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900" b="1" i="0" dirty="0">
                <a:solidFill>
                  <a:srgbClr val="1A1A1A"/>
                </a:solidFill>
                <a:latin typeface="Neue Montreal" pitchFamily="2" charset="77"/>
              </a:rPr>
              <a:t>Attendance Tracking</a:t>
            </a:r>
          </a:p>
          <a:p>
            <a:pPr algn="l">
              <a:spcBef>
                <a:spcPts val="250"/>
              </a:spcBef>
            </a:pPr>
            <a: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  <a:t>Before:  Check-in / check-out log</a:t>
            </a:r>
            <a:br>
              <a:rPr lang="en-US" sz="1300" b="0" i="1" dirty="0">
                <a:solidFill>
                  <a:srgbClr val="888888"/>
                </a:solidFill>
                <a:latin typeface="Neue Montreal" pitchFamily="2" charset="77"/>
              </a:rPr>
            </a:br>
            <a:endParaRPr lang="en-US" sz="1300" b="0" i="1" dirty="0">
              <a:solidFill>
                <a:srgbClr val="888888"/>
              </a:solidFill>
              <a:latin typeface="Neue Montreal" pitchFamily="2" charset="77"/>
            </a:endParaRPr>
          </a:p>
          <a:p>
            <a:pPr algn="l">
              <a:spcBef>
                <a:spcPts val="200"/>
              </a:spcBef>
            </a:pPr>
            <a:r>
              <a:rPr lang="en-US" sz="1400" b="1" i="0" dirty="0">
                <a:solidFill>
                  <a:srgbClr val="E85025"/>
                </a:solidFill>
                <a:latin typeface="Neue Montreal" pitchFamily="2" charset="77"/>
              </a:rPr>
              <a:t>→  Anomaly detection + burnout risk scoring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304800" y="3658635"/>
            <a:ext cx="11582400" cy="24827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br>
              <a:rPr lang="en-US" sz="2400" b="1" i="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2400" b="1" i="0" dirty="0">
                <a:solidFill>
                  <a:srgbClr val="FFFFFF"/>
                </a:solidFill>
                <a:latin typeface="Neue Montreal" pitchFamily="2" charset="77"/>
              </a:rPr>
            </a:br>
            <a:r>
              <a:rPr lang="en-US" sz="2400" b="1" i="0" dirty="0">
                <a:solidFill>
                  <a:srgbClr val="FFFFFF"/>
                </a:solidFill>
                <a:latin typeface="Neue Montreal" pitchFamily="2" charset="77"/>
              </a:rPr>
              <a:t>AI Analytics Layer  —  Runs silently across all modules</a:t>
            </a:r>
          </a:p>
          <a:p>
            <a:pPr algn="ctr">
              <a:spcBef>
                <a:spcPts val="400"/>
              </a:spcBef>
            </a:pPr>
            <a: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  <a:t>Burnout Detection  |  Leave Pattern Forecasting  |  Attendance Anomalies  |  Team Conflict Alerts  |  Risk Push to Managers</a:t>
            </a:r>
            <a:b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</a:br>
            <a:br>
              <a:rPr lang="en-US" sz="1400" b="0" i="0" dirty="0">
                <a:solidFill>
                  <a:srgbClr val="FFFFFF"/>
                </a:solidFill>
                <a:latin typeface="Neue Montreal" pitchFamily="2" charset="77"/>
              </a:rPr>
            </a:br>
            <a:endParaRPr lang="en-US" sz="1400" b="0" i="0" dirty="0">
              <a:solidFill>
                <a:srgbClr val="FFFFFF"/>
              </a:solidFill>
              <a:latin typeface="Neue Montreal" pitchFamily="2" charset="77"/>
            </a:endParaRP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 | 3SC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00" y="324940"/>
            <a:ext cx="11582400" cy="480060"/>
          </a:xfrm>
        </p:spPr>
        <p:txBody>
          <a:bodyPr/>
          <a:lstStyle/>
          <a:p>
            <a:r>
              <a:rPr lang="en-US" sz="4400" b="1">
                <a:solidFill>
                  <a:srgbClr val="E85025"/>
                </a:solidFill>
                <a:latin typeface="Neue Montreal" pitchFamily="2" charset="77"/>
              </a:rPr>
              <a:t>AI + MCP Architecture</a:t>
            </a:r>
            <a:endParaRPr lang="en-US" sz="4400" b="1" dirty="0">
              <a:solidFill>
                <a:srgbClr val="E85025"/>
              </a:solidFill>
              <a:latin typeface="Neue Montreal" pitchFamily="2" charset="77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03200" y="995000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How a single message becomes intelligent action</a:t>
            </a:r>
          </a:p>
        </p:txBody>
      </p:sp>
      <p:cxnSp>
        <p:nvCxnSpPr>
          <p:cNvPr id="50" name="AccentLine"/>
          <p:cNvCxnSpPr>
            <a:cxnSpLocks/>
          </p:cNvCxnSpPr>
          <p:nvPr/>
        </p:nvCxnSpPr>
        <p:spPr>
          <a:xfrm>
            <a:off x="304800" y="953914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10" name="Box10"/>
          <p:cNvSpPr txBox="1"/>
          <p:nvPr/>
        </p:nvSpPr>
        <p:spPr>
          <a:xfrm>
            <a:off x="304800" y="1459234"/>
            <a:ext cx="1700000" cy="11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React UI + Chat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React</a:t>
            </a:r>
          </a:p>
        </p:txBody>
      </p:sp>
      <p:sp>
        <p:nvSpPr>
          <p:cNvPr id="51" name="Arr51"/>
          <p:cNvSpPr txBox="1"/>
          <p:nvPr/>
        </p:nvSpPr>
        <p:spPr>
          <a:xfrm>
            <a:off x="195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1" name="Box11"/>
          <p:cNvSpPr txBox="1"/>
          <p:nvPr/>
        </p:nvSpPr>
        <p:spPr>
          <a:xfrm>
            <a:off x="2304800" y="1459234"/>
            <a:ext cx="1700000" cy="110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API Layer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Django REST + RBAC</a:t>
            </a:r>
          </a:p>
        </p:txBody>
      </p:sp>
      <p:sp>
        <p:nvSpPr>
          <p:cNvPr id="52" name="Arr52"/>
          <p:cNvSpPr txBox="1"/>
          <p:nvPr/>
        </p:nvSpPr>
        <p:spPr>
          <a:xfrm>
            <a:off x="400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4304800" y="1542439"/>
            <a:ext cx="1700000" cy="933589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 dirty="0">
                <a:solidFill>
                  <a:srgbClr val="FFFFFF"/>
                </a:solidFill>
                <a:latin typeface="Neue Montreal" pitchFamily="2" charset="77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lang="en-US" sz="1200" b="0" i="0" dirty="0">
                <a:solidFill>
                  <a:srgbClr val="FFFFFF"/>
                </a:solidFill>
                <a:latin typeface="Neue Montreal" pitchFamily="2" charset="77"/>
              </a:rPr>
              <a:t>Grok/OLLAMA</a:t>
            </a:r>
          </a:p>
        </p:txBody>
      </p:sp>
      <p:sp>
        <p:nvSpPr>
          <p:cNvPr id="53" name="Arr53"/>
          <p:cNvSpPr txBox="1"/>
          <p:nvPr/>
        </p:nvSpPr>
        <p:spPr>
          <a:xfrm>
            <a:off x="600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3" name="Box13"/>
          <p:cNvSpPr txBox="1"/>
          <p:nvPr/>
        </p:nvSpPr>
        <p:spPr>
          <a:xfrm>
            <a:off x="6304800" y="1459234"/>
            <a:ext cx="1700000" cy="1100000"/>
          </a:xfrm>
          <a:prstGeom prst="rect">
            <a:avLst/>
          </a:prstGeom>
          <a:solidFill>
            <a:srgbClr val="C0402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LangGraph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Orchestration</a:t>
            </a:r>
          </a:p>
        </p:txBody>
      </p:sp>
      <p:sp>
        <p:nvSpPr>
          <p:cNvPr id="54" name="Arr54"/>
          <p:cNvSpPr txBox="1"/>
          <p:nvPr/>
        </p:nvSpPr>
        <p:spPr>
          <a:xfrm>
            <a:off x="8004800" y="150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E85025"/>
                </a:solidFill>
                <a:latin typeface="Neue Montreal" pitchFamily="2" charset="77"/>
              </a:rPr>
              <a:t>→</a:t>
            </a:r>
          </a:p>
        </p:txBody>
      </p:sp>
      <p:sp>
        <p:nvSpPr>
          <p:cNvPr id="14" name="Box14"/>
          <p:cNvSpPr txBox="1"/>
          <p:nvPr/>
        </p:nvSpPr>
        <p:spPr>
          <a:xfrm>
            <a:off x="8304800" y="1459234"/>
            <a:ext cx="1700000" cy="11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FFFFFF"/>
                </a:solidFill>
                <a:latin typeface="Neue Montreal" pitchFamily="2" charset="77"/>
              </a:rPr>
              <a:t>Response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FFFFFF"/>
                </a:solidFill>
                <a:latin typeface="Neue Montreal" pitchFamily="2" charset="77"/>
              </a:rPr>
              <a:t>Back to User</a:t>
            </a:r>
          </a:p>
        </p:txBody>
      </p:sp>
      <p:sp>
        <p:nvSpPr>
          <p:cNvPr id="30" name="Box30"/>
          <p:cNvSpPr txBox="1"/>
          <p:nvPr/>
        </p:nvSpPr>
        <p:spPr>
          <a:xfrm>
            <a:off x="304800" y="2801631"/>
            <a:ext cx="11582400" cy="12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114300" tIns="0" rIns="114300" bIns="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b="1" i="0">
                <a:solidFill>
                  <a:srgbClr val="FFFFFF"/>
                </a:solidFill>
                <a:latin typeface="Neue Montreal" pitchFamily="2" charset="77"/>
              </a:rPr>
              <a:t>MCP LAYER  —  Tools  |  Resources  |  Prompts</a:t>
            </a:r>
          </a:p>
        </p:txBody>
      </p:sp>
      <p:sp>
        <p:nvSpPr>
          <p:cNvPr id="20" name="Box20"/>
          <p:cNvSpPr txBox="1"/>
          <p:nvPr/>
        </p:nvSpPr>
        <p:spPr>
          <a:xfrm>
            <a:off x="3048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MCP Tools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Apply Leave  |  Get Employee Info  |  Fetch Attendance  |  Approve/Reject</a:t>
            </a:r>
          </a:p>
        </p:txBody>
      </p:sp>
      <p:sp>
        <p:nvSpPr>
          <p:cNvPr id="21" name="Box21"/>
          <p:cNvSpPr txBox="1"/>
          <p:nvPr/>
        </p:nvSpPr>
        <p:spPr>
          <a:xfrm>
            <a:off x="27000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MCP Resources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HR Policies  |  Leave Rules  |  Company Guidelines (RAG via pgvector)</a:t>
            </a:r>
          </a:p>
        </p:txBody>
      </p:sp>
      <p:sp>
        <p:nvSpPr>
          <p:cNvPr id="22" name="Box22"/>
          <p:cNvSpPr txBox="1"/>
          <p:nvPr/>
        </p:nvSpPr>
        <p:spPr>
          <a:xfrm>
            <a:off x="50952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MCP Prompts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Converts user query into structured action plan</a:t>
            </a:r>
          </a:p>
        </p:txBody>
      </p:sp>
      <p:sp>
        <p:nvSpPr>
          <p:cNvPr id="23" name="Box23"/>
          <p:cNvSpPr txBox="1"/>
          <p:nvPr/>
        </p:nvSpPr>
        <p:spPr>
          <a:xfrm>
            <a:off x="7490400" y="2971631"/>
            <a:ext cx="22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DB / APIs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PostgreSQL  |  Django ORM  |  Redis Cache</a:t>
            </a:r>
          </a:p>
        </p:txBody>
      </p:sp>
      <p:sp>
        <p:nvSpPr>
          <p:cNvPr id="24" name="Box24"/>
          <p:cNvSpPr txBox="1"/>
          <p:nvPr/>
        </p:nvSpPr>
        <p:spPr>
          <a:xfrm>
            <a:off x="9885600" y="2971631"/>
            <a:ext cx="2000000" cy="10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wrap="square" lIns="228600" tIns="228600" rIns="228600" bIns="228600" rtlCol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700" b="1" i="0">
                <a:solidFill>
                  <a:srgbClr val="333333"/>
                </a:solidFill>
                <a:latin typeface="Neue Montreal" pitchFamily="2" charset="77"/>
              </a:rPr>
              <a:t>Async Queue</a:t>
            </a:r>
          </a:p>
          <a:p>
            <a:pPr algn="ctr">
              <a:spcBef>
                <a:spcPts val="200"/>
              </a:spcBef>
            </a:pPr>
            <a:r>
              <a:rPr lang="en-US" sz="1200" b="0" i="0">
                <a:solidFill>
                  <a:srgbClr val="333333"/>
                </a:solidFill>
                <a:latin typeface="Neue Montreal" pitchFamily="2" charset="77"/>
              </a:rPr>
              <a:t>RabbitMQ alerts &amp; analytics jobs</a:t>
            </a:r>
          </a:p>
        </p:txBody>
      </p:sp>
      <p:sp>
        <p:nvSpPr>
          <p:cNvPr id="40" name="Box40"/>
          <p:cNvSpPr txBox="1"/>
          <p:nvPr/>
        </p:nvSpPr>
        <p:spPr>
          <a:xfrm>
            <a:off x="304800" y="4311631"/>
            <a:ext cx="11582400" cy="180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228600" tIns="228600" rIns="228600" bIns="228600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i="0">
                <a:solidFill>
                  <a:srgbClr val="1A1A1A"/>
                </a:solidFill>
                <a:latin typeface="Neue Montreal" pitchFamily="2" charset="77"/>
              </a:rPr>
              <a:t>Example Flow:</a:t>
            </a:r>
          </a:p>
          <a:p>
            <a:pPr algn="l">
              <a:spcBef>
                <a:spcPts val="200"/>
              </a:spcBef>
            </a:pPr>
            <a:r>
              <a:rPr lang="en-US" sz="1400" b="0" i="0">
                <a:solidFill>
                  <a:srgbClr val="444444"/>
                </a:solidFill>
                <a:latin typeface="Neue Montreal" pitchFamily="2" charset="77"/>
              </a:rPr>
              <a:t>User: “Any attendance issues this week?”  →  RBAC check (role permitted?)  →  LangGraph routes to Analytics Engine  →  MCP fetches DB records  →  RAG validates against HR policy (pgvector)  →  LLM generates insight  →  “3 employees flagged for irregular check-in patterns”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04800" y="6477600"/>
            <a:ext cx="11582400" cy="2286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Edge| 3SC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82054-ECF8-7AF9-8DB1-8F0533A2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AccentLine">
            <a:extLst>
              <a:ext uri="{FF2B5EF4-FFF2-40B4-BE49-F238E27FC236}">
                <a16:creationId xmlns:a16="http://schemas.microsoft.com/office/drawing/2014/main" id="{4345614D-6E63-2849-5726-A545D8C6440E}"/>
              </a:ext>
            </a:extLst>
          </p:cNvPr>
          <p:cNvCxnSpPr>
            <a:cxnSpLocks/>
          </p:cNvCxnSpPr>
          <p:nvPr/>
        </p:nvCxnSpPr>
        <p:spPr>
          <a:xfrm>
            <a:off x="304800" y="953914"/>
            <a:ext cx="1200000" cy="0"/>
          </a:xfrm>
          <a:prstGeom prst="line">
            <a:avLst/>
          </a:prstGeom>
          <a:ln w="38100">
            <a:solidFill>
              <a:srgbClr val="E85025"/>
            </a:solidFill>
          </a:ln>
        </p:spPr>
      </p:cxnSp>
      <p:sp>
        <p:nvSpPr>
          <p:cNvPr id="6" name="Title">
            <a:extLst>
              <a:ext uri="{FF2B5EF4-FFF2-40B4-BE49-F238E27FC236}">
                <a16:creationId xmlns:a16="http://schemas.microsoft.com/office/drawing/2014/main" id="{CF358C69-1F51-76D2-FBC9-69C9549C5D8D}"/>
              </a:ext>
            </a:extLst>
          </p:cNvPr>
          <p:cNvSpPr txBox="1"/>
          <p:nvPr/>
        </p:nvSpPr>
        <p:spPr>
          <a:xfrm>
            <a:off x="121801" y="134473"/>
            <a:ext cx="7445828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400" b="1" dirty="0">
                <a:solidFill>
                  <a:srgbClr val="E85025"/>
                </a:solidFill>
                <a:latin typeface="Neue Montreal" pitchFamily="2" charset="77"/>
              </a:rPr>
              <a:t>System Architecture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CA104936-7596-2878-291F-5F168243B2EB}"/>
              </a:ext>
            </a:extLst>
          </p:cNvPr>
          <p:cNvSpPr txBox="1"/>
          <p:nvPr/>
        </p:nvSpPr>
        <p:spPr>
          <a:xfrm>
            <a:off x="213600" y="1093914"/>
            <a:ext cx="11582400" cy="32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Full stack: React → Django → </a:t>
            </a:r>
            <a:r>
              <a:rPr lang="en-US" sz="1400" i="1" dirty="0" err="1">
                <a:solidFill>
                  <a:srgbClr val="666666"/>
                </a:solidFill>
                <a:latin typeface="Neue Montreal" pitchFamily="2" charset="77"/>
              </a:rPr>
              <a:t>LangGraph</a:t>
            </a:r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 → PostgreSQL + </a:t>
            </a:r>
            <a:r>
              <a:rPr lang="en-US" sz="1400" i="1" dirty="0" err="1">
                <a:solidFill>
                  <a:srgbClr val="666666"/>
                </a:solidFill>
                <a:latin typeface="Neue Montreal" pitchFamily="2" charset="77"/>
              </a:rPr>
              <a:t>pgvector</a:t>
            </a:r>
            <a:r>
              <a:rPr lang="en-US" sz="1400" i="1" dirty="0">
                <a:solidFill>
                  <a:srgbClr val="666666"/>
                </a:solidFill>
                <a:latin typeface="Neue Montreal" pitchFamily="2" charset="77"/>
              </a:rPr>
              <a:t> → RabbitMQ</a:t>
            </a:r>
          </a:p>
        </p:txBody>
      </p:sp>
      <p:sp>
        <p:nvSpPr>
          <p:cNvPr id="8" name="L1">
            <a:extLst>
              <a:ext uri="{FF2B5EF4-FFF2-40B4-BE49-F238E27FC236}">
                <a16:creationId xmlns:a16="http://schemas.microsoft.com/office/drawing/2014/main" id="{3E0E8489-FA04-B884-F61A-FB7F27F2EFFD}"/>
              </a:ext>
            </a:extLst>
          </p:cNvPr>
          <p:cNvSpPr txBox="1"/>
          <p:nvPr/>
        </p:nvSpPr>
        <p:spPr>
          <a:xfrm>
            <a:off x="304800" y="1818458"/>
            <a:ext cx="11582400" cy="760000"/>
          </a:xfrm>
          <a:prstGeom prst="rect">
            <a:avLst/>
          </a:prstGeom>
          <a:solidFill>
            <a:srgbClr val="E85025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Neue Montreal" pitchFamily="2" charset="77"/>
              </a:rPr>
              <a:t>FRONTEND LAYER  —  React UI (Dashboards + Admin Portal + Employee Self-Service)  +  Unified Chat Interface</a:t>
            </a:r>
          </a:p>
        </p:txBody>
      </p:sp>
      <p:sp>
        <p:nvSpPr>
          <p:cNvPr id="9" name="L2">
            <a:extLst>
              <a:ext uri="{FF2B5EF4-FFF2-40B4-BE49-F238E27FC236}">
                <a16:creationId xmlns:a16="http://schemas.microsoft.com/office/drawing/2014/main" id="{FF4AFEBD-E092-E245-54A0-C1FA7F7D5159}"/>
              </a:ext>
            </a:extLst>
          </p:cNvPr>
          <p:cNvSpPr txBox="1"/>
          <p:nvPr/>
        </p:nvSpPr>
        <p:spPr>
          <a:xfrm>
            <a:off x="304800" y="2678458"/>
            <a:ext cx="11582400" cy="760000"/>
          </a:xfrm>
          <a:prstGeom prst="rect">
            <a:avLst/>
          </a:prstGeom>
          <a:solidFill>
            <a:srgbClr val="C04020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Neue Montreal" pitchFamily="2" charset="77"/>
              </a:rPr>
              <a:t>API LAYER  —  Django REST  |  Auth (JWT)  |  RBAC (Role-Based Access Control)  |  Business Logic  |  Module APIs</a:t>
            </a:r>
          </a:p>
        </p:txBody>
      </p:sp>
      <p:sp>
        <p:nvSpPr>
          <p:cNvPr id="15" name="L3">
            <a:extLst>
              <a:ext uri="{FF2B5EF4-FFF2-40B4-BE49-F238E27FC236}">
                <a16:creationId xmlns:a16="http://schemas.microsoft.com/office/drawing/2014/main" id="{50D28D3B-05E5-2555-7C2E-9C6095D47DA5}"/>
              </a:ext>
            </a:extLst>
          </p:cNvPr>
          <p:cNvSpPr txBox="1"/>
          <p:nvPr/>
        </p:nvSpPr>
        <p:spPr>
          <a:xfrm>
            <a:off x="304800" y="3538458"/>
            <a:ext cx="11582400" cy="76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Neue Montreal" pitchFamily="2" charset="77"/>
              </a:rPr>
              <a:t>AI LAYER  —  LLM  |  LangGraph Orchestration  |  MCP (Tools + Resources + Prompts)  |  Analytics Engine</a:t>
            </a:r>
          </a:p>
        </p:txBody>
      </p:sp>
      <p:sp>
        <p:nvSpPr>
          <p:cNvPr id="16" name="L4">
            <a:extLst>
              <a:ext uri="{FF2B5EF4-FFF2-40B4-BE49-F238E27FC236}">
                <a16:creationId xmlns:a16="http://schemas.microsoft.com/office/drawing/2014/main" id="{F1A31470-D62C-AA1E-5B56-A0625A5CB7C7}"/>
              </a:ext>
            </a:extLst>
          </p:cNvPr>
          <p:cNvSpPr txBox="1"/>
          <p:nvPr/>
        </p:nvSpPr>
        <p:spPr>
          <a:xfrm>
            <a:off x="304800" y="4398458"/>
            <a:ext cx="5700000" cy="76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wrap="square" lIns="228600" tIns="114300" rIns="228600" bIns="1143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Neue Montreal" pitchFamily="2" charset="77"/>
              </a:rPr>
              <a:t>DATA  —  PostgreSQL  |  pgvector RAG (HR Policies, Leave Rules, Guidelines)  |  Redis Cache</a:t>
            </a:r>
          </a:p>
        </p:txBody>
      </p:sp>
      <p:sp>
        <p:nvSpPr>
          <p:cNvPr id="17" name="TechRow">
            <a:extLst>
              <a:ext uri="{FF2B5EF4-FFF2-40B4-BE49-F238E27FC236}">
                <a16:creationId xmlns:a16="http://schemas.microsoft.com/office/drawing/2014/main" id="{620186F5-02DA-8182-BFD9-A47607C2A70A}"/>
              </a:ext>
            </a:extLst>
          </p:cNvPr>
          <p:cNvSpPr txBox="1"/>
          <p:nvPr/>
        </p:nvSpPr>
        <p:spPr>
          <a:xfrm>
            <a:off x="304800" y="5318458"/>
            <a:ext cx="115824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00" b="0">
                <a:solidFill>
                  <a:srgbClr val="888888"/>
                </a:solidFill>
                <a:latin typeface="Neue Montreal" pitchFamily="2" charset="77"/>
              </a:rPr>
              <a:t>Python 3.12  •  Django 5  •  React 18  •  LangGraph  •  PostgreSQL 16  •  pgvector  •  Redis 7  •  RabbitMQ  •  Docker  •  Azure</a:t>
            </a:r>
          </a:p>
        </p:txBody>
      </p:sp>
      <p:sp>
        <p:nvSpPr>
          <p:cNvPr id="99" name="Footer">
            <a:extLst>
              <a:ext uri="{FF2B5EF4-FFF2-40B4-BE49-F238E27FC236}">
                <a16:creationId xmlns:a16="http://schemas.microsoft.com/office/drawing/2014/main" id="{8E92AB94-D7F0-A0FC-1627-1F6DFFE472E4}"/>
              </a:ext>
            </a:extLst>
          </p:cNvPr>
          <p:cNvSpPr txBox="1"/>
          <p:nvPr/>
        </p:nvSpPr>
        <p:spPr>
          <a:xfrm>
            <a:off x="304800" y="6492694"/>
            <a:ext cx="10842171" cy="2308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900" dirty="0">
                <a:solidFill>
                  <a:srgbClr val="999999"/>
                </a:solidFill>
                <a:latin typeface="Neue Montreal" pitchFamily="2" charset="77"/>
              </a:rPr>
              <a:t>Human Edge| 3SC Internal</a:t>
            </a:r>
          </a:p>
        </p:txBody>
      </p:sp>
    </p:spTree>
    <p:extLst>
      <p:ext uri="{BB962C8B-B14F-4D97-AF65-F5344CB8AC3E}">
        <p14:creationId xmlns:p14="http://schemas.microsoft.com/office/powerpoint/2010/main" val="3094986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F89-9621-F1BD-39BF-FE49228B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">
            <a:extLst>
              <a:ext uri="{FF2B5EF4-FFF2-40B4-BE49-F238E27FC236}">
                <a16:creationId xmlns:a16="http://schemas.microsoft.com/office/drawing/2014/main" id="{22BD606E-64EE-4341-9C1A-7B15292668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-434"/>
          <a:stretch/>
        </p:blipFill>
        <p:spPr>
          <a:xfrm>
            <a:off x="-12918" y="7552"/>
            <a:ext cx="12217836" cy="68504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AF3DA3-D464-8BAD-C9BD-0B1AD87EC562}"/>
              </a:ext>
            </a:extLst>
          </p:cNvPr>
          <p:cNvSpPr/>
          <p:nvPr/>
        </p:nvSpPr>
        <p:spPr>
          <a:xfrm>
            <a:off x="6569237" y="2178958"/>
            <a:ext cx="4425126" cy="3747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60%  HR Admin Time Saved</a:t>
            </a:r>
          </a:p>
          <a:p>
            <a:pPr algn="ctr">
              <a:spcBef>
                <a:spcPts val="400"/>
              </a:spcBef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60%  Reduction in License Cost</a:t>
            </a:r>
          </a:p>
          <a:p>
            <a:pPr algn="ctr">
              <a:spcBef>
                <a:spcPts val="400"/>
              </a:spcBef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Proactive Burnout &amp; Risk Alerts</a:t>
            </a:r>
          </a:p>
          <a:p>
            <a:pPr algn="ctr">
              <a:spcBef>
                <a:spcPts val="400"/>
              </a:spcBef>
              <a:buNone/>
            </a:pPr>
            <a:r>
              <a:rPr lang="en-US" b="1" dirty="0">
                <a:solidFill>
                  <a:srgbClr val="E85025"/>
                </a:solidFill>
                <a:latin typeface="Neue Montreal" pitchFamily="2" charset="77"/>
              </a:rPr>
              <a:t>One Chat Interface  —  Zero Navigation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CE82E8E5-CA15-57DB-21DC-3220EDE71639}"/>
              </a:ext>
            </a:extLst>
          </p:cNvPr>
          <p:cNvSpPr txBox="1"/>
          <p:nvPr/>
        </p:nvSpPr>
        <p:spPr>
          <a:xfrm>
            <a:off x="7681952" y="1483403"/>
            <a:ext cx="3658904" cy="607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6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E75026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Impact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&amp; Outcomes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6B682DB0-03DC-5D5C-4691-B3B634BE9F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72057" y="152727"/>
            <a:ext cx="602277" cy="485778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3FCCD1B4-AAAA-B572-5152-9E8C7515B0AE}"/>
              </a:ext>
            </a:extLst>
          </p:cNvPr>
          <p:cNvSpPr txBox="1"/>
          <p:nvPr/>
        </p:nvSpPr>
        <p:spPr>
          <a:xfrm>
            <a:off x="11181231" y="-368117"/>
            <a:ext cx="885307" cy="104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933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3SC</a:t>
            </a:r>
          </a:p>
        </p:txBody>
      </p:sp>
    </p:spTree>
    <p:extLst>
      <p:ext uri="{BB962C8B-B14F-4D97-AF65-F5344CB8AC3E}">
        <p14:creationId xmlns:p14="http://schemas.microsoft.com/office/powerpoint/2010/main" val="37305488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3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EEAA3A7FEE8E4F892ED8A9B360E0FA" ma:contentTypeVersion="11" ma:contentTypeDescription="Create a new document." ma:contentTypeScope="" ma:versionID="1d2856b4ac9e51d9c81d37af2b33c593">
  <xsd:schema xmlns:xsd="http://www.w3.org/2001/XMLSchema" xmlns:xs="http://www.w3.org/2001/XMLSchema" xmlns:p="http://schemas.microsoft.com/office/2006/metadata/properties" xmlns:ns2="0a8c8cec-6d3d-4dbd-a744-0e29ab6f408c" xmlns:ns3="afef34dd-59ac-4a32-93c2-c68f60612a76" targetNamespace="http://schemas.microsoft.com/office/2006/metadata/properties" ma:root="true" ma:fieldsID="cecad00f67e9c7ec822af2e208a6ceea" ns2:_="" ns3:_="">
    <xsd:import namespace="0a8c8cec-6d3d-4dbd-a744-0e29ab6f408c"/>
    <xsd:import namespace="afef34dd-59ac-4a32-93c2-c68f60612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c8cec-6d3d-4dbd-a744-0e29ab6f4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f34dd-59ac-4a32-93c2-c68f60612a7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0423E8-9DAF-46F5-BE50-F9233E705838}">
  <ds:schemaRefs>
    <ds:schemaRef ds:uri="0a8c8cec-6d3d-4dbd-a744-0e29ab6f408c"/>
    <ds:schemaRef ds:uri="afef34dd-59ac-4a32-93c2-c68f60612a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6DFEA1F-D62A-479E-9BA6-F70D924942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7C2C1E-EC39-4FF7-9714-27A79E8DDE53}">
  <ds:schemaRefs>
    <ds:schemaRef ds:uri="0a8c8cec-6d3d-4dbd-a744-0e29ab6f408c"/>
    <ds:schemaRef ds:uri="afef34dd-59ac-4a32-93c2-c68f60612a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1d936ec-8bff-4560-a8a9-60010ec034de}" enabled="0" method="" siteId="{d1d936ec-8bff-4560-a8a9-60010ec034d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904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Arial</vt:lpstr>
      <vt:lpstr>Calibri</vt:lpstr>
      <vt:lpstr>Century Gothic</vt:lpstr>
      <vt:lpstr>Neue Montreal</vt:lpstr>
      <vt:lpstr>Open Sauce Bold</vt:lpstr>
      <vt:lpstr>Wingdings</vt:lpstr>
      <vt:lpstr>Custom Design</vt:lpstr>
      <vt:lpstr>1_Custom Design</vt:lpstr>
      <vt:lpstr>11_Custom Design</vt:lpstr>
      <vt:lpstr>5_Custom Design</vt:lpstr>
      <vt:lpstr>15_Custom Design</vt:lpstr>
      <vt:lpstr>20_Custom Design</vt:lpstr>
      <vt:lpstr>18_Custom Design</vt:lpstr>
      <vt:lpstr>14_Custom Design</vt:lpstr>
      <vt:lpstr>2_Custom Design</vt:lpstr>
      <vt:lpstr>1_Office Theme</vt:lpstr>
      <vt:lpstr>19_Custom Design</vt:lpstr>
      <vt:lpstr>3_Custom Design</vt:lpstr>
      <vt:lpstr>4_Custom Design</vt:lpstr>
      <vt:lpstr>PowerPoint Presentation</vt:lpstr>
      <vt:lpstr>Purpose &amp; Objectives</vt:lpstr>
      <vt:lpstr>Why We Are Different</vt:lpstr>
      <vt:lpstr>The Problem with Today’s HRMS</vt:lpstr>
      <vt:lpstr>The Solution: HUMAN EDGE</vt:lpstr>
      <vt:lpstr>V1 Modules + AI Enhancements</vt:lpstr>
      <vt:lpstr>AI + MCP Architecture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Shivani Soni</dc:creator>
  <cp:lastModifiedBy>Jyotsna</cp:lastModifiedBy>
  <cp:revision>4</cp:revision>
  <dcterms:created xsi:type="dcterms:W3CDTF">2023-01-21T12:08:39Z</dcterms:created>
  <dcterms:modified xsi:type="dcterms:W3CDTF">2026-04-10T05:23:54Z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0x01010066EEAA3A7FEE8E4F892ED8A9B360E0FA</vt:lpwstr>
  </property>
  <property fmtid="{D5CDD505-2E9C-101B-9397-08002B2CF9AE}" pid="3" name="MediaServiceImageTags">
    <vt:lpwstr/>
  </property>
</Properties>
</file>